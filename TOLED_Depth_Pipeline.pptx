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2004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746886"/>
            <a:ext cx="1056640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0000"/>
              </a:lnSpc>
              <a:buNone/>
              <a:defRPr lang="en-US" sz="5200" dirty="0">
                <a:solidFill>
                  <a:srgbClr val="1421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defRPr>
            </a:lvl1pPr>
          </a:lstStyle>
          <a:p>
            <a:pPr marL="0" indent="0" algn="l">
              <a:lnSpc>
                <a:spcPct val="110000"/>
              </a:lnSpc>
              <a:buNone/>
            </a:pPr>
            <a:endParaRPr lang="en-US" sz="5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2745106"/>
            <a:ext cx="10566400" cy="3300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421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746886"/>
            <a:ext cx="1056640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0000"/>
              </a:lnSpc>
              <a:buNone/>
              <a:defRPr lang="en-US" sz="5200" dirty="0">
                <a:solidFill>
                  <a:srgbClr val="1421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defRPr>
            </a:lvl1pPr>
          </a:lstStyle>
          <a:p>
            <a:pPr marL="0" indent="0" algn="l">
              <a:lnSpc>
                <a:spcPct val="110000"/>
              </a:lnSpc>
              <a:buNone/>
            </a:pPr>
            <a:endParaRPr lang="en-US" sz="5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2745106"/>
            <a:ext cx="10566400" cy="3300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421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A6F7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ARDUINO · TRANSPARENT OLED · COMPUTER VISION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03960"/>
            <a:ext cx="10883392" cy="1572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090"/>
              </a:lnSpc>
              <a:buNone/>
            </a:pPr>
            <a:r>
              <a:rPr lang="en-US" sz="5800" b="1" i="0" dirty="0">
                <a:solidFill>
                  <a:srgbClr val="1421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Vision</a:t>
            </a:r>
            <a:endParaRPr lang="en-US" sz="5800" dirty="0"/>
          </a:p>
          <a:p>
            <a:pPr marL="0" indent="0" algn="l">
              <a:lnSpc>
                <a:spcPts val="6090"/>
              </a:lnSpc>
              <a:buNone/>
            </a:pPr>
            <a:r>
              <a:rPr lang="en-US" sz="5800" b="1" i="0" dirty="0">
                <a:solidFill>
                  <a:srgbClr val="1421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Pipeline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812800" y="2928620"/>
            <a:ext cx="78486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4553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Teaching a transparent OLED to point toward — and resize itself for — a water bottle, using two open vision models feeding one Arduino Uno.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5796280"/>
            <a:ext cx="8978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YOLOv8n</a:t>
            </a:r>
            <a:endParaRPr lang="en-US" sz="1400" dirty="0"/>
          </a:p>
        </p:txBody>
      </p:sp>
      <p:pic>
        <p:nvPicPr>
          <p:cNvPr id="6" name="Image 0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713389" y="5844540"/>
            <a:ext cx="254000" cy="152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19789" y="5796280"/>
            <a:ext cx="16920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Depth Anything V2</a:t>
            </a:r>
            <a:endParaRPr lang="en-US" sz="1400" dirty="0"/>
          </a:p>
        </p:txBody>
      </p:sp>
      <p:pic>
        <p:nvPicPr>
          <p:cNvPr id="8" name="Image 1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11826" y="5844540"/>
            <a:ext cx="254000" cy="152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218226" y="5796280"/>
            <a:ext cx="12269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Arduino Uno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421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this demo does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2676525"/>
            <a:ext cx="10566400" cy="0"/>
          </a:xfrm>
          <a:prstGeom prst="line">
            <a:avLst/>
          </a:prstGeom>
          <a:noFill/>
          <a:ln w="6350">
            <a:solidFill>
              <a:srgbClr val="E1DF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12800" y="1897380"/>
            <a:ext cx="93980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2A6F7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006600" y="1897380"/>
            <a:ext cx="4544339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Watch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006600" y="2222500"/>
            <a:ext cx="5294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553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Logitech webcam watches for a water bottle in frame.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12800" y="3662045"/>
            <a:ext cx="10566400" cy="0"/>
          </a:xfrm>
          <a:prstGeom prst="line">
            <a:avLst/>
          </a:prstGeom>
          <a:noFill/>
          <a:ln w="6350">
            <a:solidFill>
              <a:srgbClr val="E1DF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12800" y="2882900"/>
            <a:ext cx="93980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2A6F7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006600" y="2882900"/>
            <a:ext cx="7425594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Locate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006600" y="3208020"/>
            <a:ext cx="865117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553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YOLOv8n finds it and works out left, right, or centered — the OLED draws a matching arrow.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12800" y="3868420"/>
            <a:ext cx="93980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2A6F7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006600" y="3868420"/>
            <a:ext cx="790811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Gauge distance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006600" y="4193540"/>
            <a:ext cx="92133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553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Depth Anything V2 estimates how near or far the bottle is — the arrow grows or shrinks to match.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1864361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421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pipeline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2897505"/>
            <a:ext cx="1695450" cy="1375410"/>
          </a:xfrm>
          <a:prstGeom prst="roundRect">
            <a:avLst>
              <a:gd name="adj" fmla="val 9003"/>
            </a:avLst>
          </a:prstGeom>
          <a:solidFill>
            <a:srgbClr val="FFFFFF"/>
          </a:solidFill>
          <a:ln w="6350">
            <a:solidFill>
              <a:srgbClr val="E1DF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970280" y="3102611"/>
            <a:ext cx="14376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A6F7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70280" y="3404870"/>
            <a:ext cx="14376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421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Webcam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70280" y="3676650"/>
            <a:ext cx="143764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4553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Live frame from the Logitech C615</a:t>
            </a:r>
            <a:endParaRPr lang="en-US" sz="1100" dirty="0"/>
          </a:p>
        </p:txBody>
      </p:sp>
      <p:pic>
        <p:nvPicPr>
          <p:cNvPr id="7" name="Image 0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616200" y="3502661"/>
            <a:ext cx="279400" cy="1651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000375" y="2799716"/>
            <a:ext cx="1695450" cy="1570990"/>
          </a:xfrm>
          <a:prstGeom prst="roundRect">
            <a:avLst>
              <a:gd name="adj" fmla="val 7882"/>
            </a:avLst>
          </a:prstGeom>
          <a:solidFill>
            <a:srgbClr val="FFFFFF"/>
          </a:solidFill>
          <a:ln w="6350">
            <a:solidFill>
              <a:srgbClr val="E1DF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3154680" y="3004820"/>
            <a:ext cx="14376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A6F7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154680" y="3307080"/>
            <a:ext cx="14376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421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YOLOv8n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154680" y="3578861"/>
            <a:ext cx="1437640" cy="612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4553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Detects the bottle, picks left / right / center</a:t>
            </a:r>
            <a:endParaRPr lang="en-US" sz="1100" dirty="0"/>
          </a:p>
        </p:txBody>
      </p:sp>
      <p:pic>
        <p:nvPicPr>
          <p:cNvPr id="12" name="Image 1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00600" y="3502661"/>
            <a:ext cx="279400" cy="1651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184775" y="2897505"/>
            <a:ext cx="1695450" cy="1375410"/>
          </a:xfrm>
          <a:prstGeom prst="roundRect">
            <a:avLst>
              <a:gd name="adj" fmla="val 9003"/>
            </a:avLst>
          </a:prstGeom>
          <a:solidFill>
            <a:srgbClr val="FFFFFF"/>
          </a:solidFill>
          <a:ln w="6350">
            <a:solidFill>
              <a:srgbClr val="E1DF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0"/>
          <p:cNvSpPr/>
          <p:nvPr/>
        </p:nvSpPr>
        <p:spPr>
          <a:xfrm>
            <a:off x="5339080" y="3102611"/>
            <a:ext cx="14376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A6F7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339080" y="3404870"/>
            <a:ext cx="14376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421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Depth Anything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339080" y="3676650"/>
            <a:ext cx="143764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4553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Estimates distance on the bottle's own crop</a:t>
            </a:r>
            <a:endParaRPr lang="en-US" sz="1100" dirty="0"/>
          </a:p>
        </p:txBody>
      </p:sp>
      <p:pic>
        <p:nvPicPr>
          <p:cNvPr id="17" name="Image 2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985000" y="3502661"/>
            <a:ext cx="279400" cy="16510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7369175" y="2799716"/>
            <a:ext cx="1695450" cy="1570990"/>
          </a:xfrm>
          <a:prstGeom prst="roundRect">
            <a:avLst>
              <a:gd name="adj" fmla="val 7882"/>
            </a:avLst>
          </a:prstGeom>
          <a:solidFill>
            <a:srgbClr val="FFFFFF"/>
          </a:solidFill>
          <a:ln w="6350">
            <a:solidFill>
              <a:srgbClr val="E1DF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4"/>
          <p:cNvSpPr/>
          <p:nvPr/>
        </p:nvSpPr>
        <p:spPr>
          <a:xfrm>
            <a:off x="7523480" y="3004820"/>
            <a:ext cx="14376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A6F7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7523480" y="3307080"/>
            <a:ext cx="14376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421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Serial link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7523480" y="3578861"/>
            <a:ext cx="1437640" cy="612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4553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Two bytes: direction + size tier, 115200 baud</a:t>
            </a:r>
            <a:endParaRPr lang="en-US" sz="1100" dirty="0"/>
          </a:p>
        </p:txBody>
      </p:sp>
      <p:pic>
        <p:nvPicPr>
          <p:cNvPr id="22" name="Image 3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69400" y="3502661"/>
            <a:ext cx="279400" cy="16510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9553575" y="2897505"/>
            <a:ext cx="1695450" cy="1375410"/>
          </a:xfrm>
          <a:prstGeom prst="roundRect">
            <a:avLst>
              <a:gd name="adj" fmla="val 9003"/>
            </a:avLst>
          </a:prstGeom>
          <a:solidFill>
            <a:srgbClr val="FFFFFF"/>
          </a:solidFill>
          <a:ln w="6350">
            <a:solidFill>
              <a:srgbClr val="E1DF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18"/>
          <p:cNvSpPr/>
          <p:nvPr/>
        </p:nvSpPr>
        <p:spPr>
          <a:xfrm>
            <a:off x="9707880" y="3102611"/>
            <a:ext cx="14376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A6F7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9707880" y="3404870"/>
            <a:ext cx="14376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421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Arduino + OLED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9707880" y="3676650"/>
            <a:ext cx="143764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4553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Draws the arrow, scaled to size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812800" y="478028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A919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Stages 01–03 run on the PC. Stages 04–05 run on the Arduino Uno.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457325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A6F7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MODEL 01 · DETECTION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746886"/>
            <a:ext cx="10883392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460"/>
              </a:lnSpc>
              <a:buNone/>
            </a:pPr>
            <a:r>
              <a:rPr lang="en-US" sz="5200" b="1" i="0" dirty="0">
                <a:solidFill>
                  <a:srgbClr val="1421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YOLO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12800" y="2516505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4553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 Only Look Once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3156586"/>
            <a:ext cx="4965548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kern="0" spc="50" dirty="0">
                <a:solidFill>
                  <a:srgbClr val="8A919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YEAR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12800" y="3352166"/>
            <a:ext cx="4965548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2015 paper · 2016 at CVPR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" y="3814445"/>
            <a:ext cx="4965548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kern="0" spc="50" dirty="0">
                <a:solidFill>
                  <a:srgbClr val="8A919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INVENTORS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12800" y="4010025"/>
            <a:ext cx="4965548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1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Joseph Redmon, Santosh Divvala, Ross Girshick, Ali Farhadi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12800" y="4721225"/>
            <a:ext cx="4965548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kern="0" spc="50" dirty="0">
                <a:solidFill>
                  <a:srgbClr val="8A919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ORIGIN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12800" y="4916805"/>
            <a:ext cx="4965548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University of Washington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043295" y="3159761"/>
            <a:ext cx="5332730" cy="2237740"/>
          </a:xfrm>
          <a:prstGeom prst="roundRect">
            <a:avLst>
              <a:gd name="adj" fmla="val 5533"/>
            </a:avLst>
          </a:prstGeom>
          <a:solidFill>
            <a:srgbClr val="FFFFFF"/>
          </a:solidFill>
          <a:ln w="6350">
            <a:solidFill>
              <a:srgbClr val="E1DF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299200" y="3415666"/>
            <a:ext cx="4965548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kern="0" spc="50" dirty="0">
                <a:solidFill>
                  <a:srgbClr val="8A919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 THIS PROJECT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99200" y="3738245"/>
            <a:ext cx="4965548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1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YOLOv8n, by Ultralytics (2023) — pretrained on COCO, restricted to class 39: "bottle"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299200" y="4398645"/>
            <a:ext cx="4965548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4553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YOLO reframed detection as a single regression pass over the image, predicting every box and class at once — the breakthrough that made real-time detection practical.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510664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A6F7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MODEL 02 · DEPTH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800225"/>
            <a:ext cx="10883392" cy="612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620"/>
              </a:lnSpc>
              <a:buNone/>
            </a:pPr>
            <a:r>
              <a:rPr lang="en-US" sz="4400" b="1" i="0" dirty="0">
                <a:solidFill>
                  <a:srgbClr val="1421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Depth Anything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12800" y="2463164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4553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Monocular depth estimation from large-scale unlabeled data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3103246"/>
            <a:ext cx="4965548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kern="0" spc="50" dirty="0">
                <a:solidFill>
                  <a:srgbClr val="8A919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YEAR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12800" y="3298825"/>
            <a:ext cx="4965548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2024 (V1 &amp; V2)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" y="3761107"/>
            <a:ext cx="4965548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kern="0" spc="50" dirty="0">
                <a:solidFill>
                  <a:srgbClr val="8A919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INVENTORS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12800" y="3956686"/>
            <a:ext cx="4965548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Lihe Yang, Bingyi Kang, Zilong Huang, Xiaogang Xu, Jiashi Feng, Hengshuang Zhao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12800" y="4632325"/>
            <a:ext cx="4965548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kern="0" spc="50" dirty="0">
                <a:solidFill>
                  <a:srgbClr val="8A919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ORIGIN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12800" y="4827907"/>
            <a:ext cx="496554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1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University of Hong Kong &amp; TikTok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043295" y="3106421"/>
            <a:ext cx="5332730" cy="2237740"/>
          </a:xfrm>
          <a:prstGeom prst="roundRect">
            <a:avLst>
              <a:gd name="adj" fmla="val 5533"/>
            </a:avLst>
          </a:prstGeom>
          <a:solidFill>
            <a:srgbClr val="FFFFFF"/>
          </a:solidFill>
          <a:ln w="6350">
            <a:solidFill>
              <a:srgbClr val="E1DF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299200" y="3362325"/>
            <a:ext cx="4965548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kern="0" spc="50" dirty="0">
                <a:solidFill>
                  <a:srgbClr val="8A919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 THIS PROJECT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99200" y="3684907"/>
            <a:ext cx="4965548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1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Depth-Anything-V2-Small, via Hugging Face Transformers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299200" y="4345307"/>
            <a:ext cx="4965548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4553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Trained on ~1.5M labeled plus ~62M pseudo-labeled images to predict relative depth from one frame — no stereo camera or LiDAR required.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421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Where this stands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2267587"/>
            <a:ext cx="10566400" cy="0"/>
          </a:xfrm>
          <a:prstGeom prst="line">
            <a:avLst/>
          </a:prstGeom>
          <a:noFill/>
          <a:ln w="6350">
            <a:solidFill>
              <a:srgbClr val="E1DF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12800" y="1821182"/>
            <a:ext cx="144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A6F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413000" y="1821182"/>
            <a:ext cx="704326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4553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Direction (left / right / center) reliably drives a full-size arrow on the OLED.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12800" y="3161666"/>
            <a:ext cx="10566400" cy="0"/>
          </a:xfrm>
          <a:prstGeom prst="line">
            <a:avLst/>
          </a:prstGeom>
          <a:noFill/>
          <a:ln w="6350">
            <a:solidFill>
              <a:srgbClr val="E1DF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12800" y="2448561"/>
            <a:ext cx="144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A6F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Just fixed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413000" y="2448561"/>
            <a:ext cx="9235186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4553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Distance was reading a per-frame renormalized preview image instead of the model's raw depth output — now uses raw values with self-calibrating near/far thresholds.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12800" y="3342639"/>
            <a:ext cx="144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A6F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Next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413000" y="3342639"/>
            <a:ext cx="9779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4553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Calibrate real near/far thresholds against the bottle's actual range; extend beyond a single object class.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12800" y="6238239"/>
            <a:ext cx="359292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A919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github.com/himnshu-debug/TOLED-Display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ottle Vision Pipeline">
  <a:themeElements>
    <a:clrScheme name="Bottle Vision Pipeline">
      <a:dk1>
        <a:srgbClr val="14212B"/>
      </a:dk1>
      <a:lt1>
        <a:srgbClr val="FBFBF8"/>
      </a:lt1>
      <a:dk2>
        <a:srgbClr val="4E585E"/>
      </a:dk2>
      <a:lt2>
        <a:srgbClr val="E4E5E4"/>
      </a:lt2>
      <a:accent1>
        <a:srgbClr val="2A6F77"/>
      </a:accent1>
      <a:accent2>
        <a:srgbClr val="45535C"/>
      </a:accent2>
      <a:accent3>
        <a:srgbClr val="8A9199"/>
      </a:accent3>
      <a:accent4>
        <a:srgbClr val="9AA0A6"/>
      </a:accent4>
      <a:accent5>
        <a:srgbClr val="70787D"/>
      </a:accent5>
      <a:accent6>
        <a:srgbClr val="93999C"/>
      </a:accent6>
      <a:hlink>
        <a:srgbClr val="0563C1"/>
      </a:hlink>
      <a:folHlink>
        <a:srgbClr val="954F72"/>
      </a:folHlink>
    </a:clrScheme>
    <a:fontScheme name="Bottle Vision Pipeline">
      <a:majorFont>
        <a:latin typeface="IBM Plex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421</Words>
  <Application>Microsoft Office PowerPoint</Application>
  <PresentationFormat>Widescreen</PresentationFormat>
  <Paragraphs>72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IBM Plex Sans</vt:lpstr>
      <vt:lpstr>Space Grotesk</vt:lpstr>
      <vt:lpstr>Bottle Vision Pipeline</vt:lpstr>
      <vt:lpstr>Vision Pipeline</vt:lpstr>
      <vt:lpstr>What this demo does</vt:lpstr>
      <vt:lpstr>The pipeline</vt:lpstr>
      <vt:lpstr>YOLO</vt:lpstr>
      <vt:lpstr>Depth Anything</vt:lpstr>
      <vt:lpstr>Where this stands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Bottle Vision Pipeline</dc:title>
  <dc:subject/>
  <dc:creator/>
  <cp:lastModifiedBy>Himanshu 17493</cp:lastModifiedBy>
  <cp:revision>2</cp:revision>
  <dcterms:created xsi:type="dcterms:W3CDTF">2026-10-03T07:31:58Z</dcterms:created>
  <dcterms:modified xsi:type="dcterms:W3CDTF">2026-10-03T07:37:15Z</dcterms:modified>
</cp:coreProperties>
</file>